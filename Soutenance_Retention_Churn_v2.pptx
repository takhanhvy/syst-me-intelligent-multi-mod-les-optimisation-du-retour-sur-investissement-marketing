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mbria Bold" charset="1" panose="02040803050406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" charset="1" panose="020F0502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Pitch d'accroche (~20 s). Annoncer la phrase clé : prédire le churn pour prioriser la rétention. Donner le nom du binôme. Enchaîner vite.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~30 s. Poser l'enjeu business (revenu récurrent), nommer l'utilisateur cible, montrer les 3 chiffres clés du dataset. Insister : déséquilibre ~10%.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~30 s. Poser l'enjeu business (revenu récurrent), nommer l'utilisateur cible, montrer les 3 chiffres clés du dataset. Insister : déséquilibre ~10%.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~30 s. Message : on a pris le temps de comprendre les données. Le churn obéit à des seuils (ancienneté, satisfaction, paiement), pas à des tendances linéaires — d'où le choix de modèles non linéaires.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~30 s. Mettre en avant la rigueur : pas de data leakage, 4 modèles dont 1 Deep Learning, et surtout le choix des métriques car la classe est minoritaire. Le seuil est calé sans fuite (out-of-fold).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~30 s. Mettre en avant la rigueur : pas de data leakage, 4 modèles dont 1 Deep Learning, et surtout le choix des métriques car la classe est minoritaire. Le seuil est calé sans fuite (out-of-fold).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~40 s. Coeur de la soutenance. Lire le tableau : Recall ~0,82-0,85 (on capte la majorité des churners). Les 2 modèles d'arbres gagnent. Justifier le choix final au-delà du score : stabilité, interprétabilité, déploiement.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~25 s. Un modèle doit être explicable. La permutation importance + SHAP confirment les signaux de l'EDA et se traduisent en actions métier concrètes, client par client.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Démo (3 min). Préparer les 2 profils À L'AVANCE. Montrer : KPIs → simulateur client à risque (proba haute + facteurs) → client stable (proba basse). Avoir les captures de secours si l'API est lente. Lancer uvicorn + streamlit avant de commencer.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~25 s. Synthèse : on est allés de la donnée brute à un outil décisionnel. Rappeler le modèle retenu et la valeur métier. Assumer les limites = maturité. Finir sur la phrase de valeur.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Démo (3 min). Préparer les 2 profils À L'AVANCE. Montrer : KPIs → simulateur client à risque (proba haute + facteurs) → client stable (proba basse). Avoir les captures de secours si l'API est lente. Lancer uvicorn + streamlit avant de commencer.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96160" y="-2560320"/>
            <a:ext cx="6583680" cy="6583680"/>
            <a:chOff x="0" y="0"/>
            <a:chExt cx="8778240" cy="8778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78240" cy="8778240"/>
            </a:xfrm>
            <a:custGeom>
              <a:avLst/>
              <a:gdLst/>
              <a:ahLst/>
              <a:cxnLst/>
              <a:rect r="r" b="b" t="t" l="l"/>
              <a:pathLst>
                <a:path h="8778240" w="8778240">
                  <a:moveTo>
                    <a:pt x="0" y="4389120"/>
                  </a:moveTo>
                  <a:cubicBezTo>
                    <a:pt x="0" y="1965071"/>
                    <a:pt x="1965071" y="0"/>
                    <a:pt x="4389120" y="0"/>
                  </a:cubicBezTo>
                  <a:cubicBezTo>
                    <a:pt x="6813169" y="0"/>
                    <a:pt x="8778240" y="1965071"/>
                    <a:pt x="8778240" y="4389120"/>
                  </a:cubicBezTo>
                  <a:cubicBezTo>
                    <a:pt x="8778240" y="6813169"/>
                    <a:pt x="6813169" y="8778240"/>
                    <a:pt x="4389120" y="8778240"/>
                  </a:cubicBezTo>
                  <a:cubicBezTo>
                    <a:pt x="1965072" y="8778240"/>
                    <a:pt x="0" y="6813169"/>
                    <a:pt x="0" y="4389120"/>
                  </a:cubicBezTo>
                  <a:close/>
                </a:path>
              </a:pathLst>
            </a:custGeom>
            <a:solidFill>
              <a:srgbClr val="0E7C86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59200" y="6583680"/>
            <a:ext cx="5120640" cy="5120640"/>
            <a:chOff x="0" y="0"/>
            <a:chExt cx="6827520" cy="6827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75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6827520">
                  <a:moveTo>
                    <a:pt x="0" y="3413760"/>
                  </a:moveTo>
                  <a:cubicBezTo>
                    <a:pt x="0" y="1528445"/>
                    <a:pt x="1528445" y="0"/>
                    <a:pt x="3413760" y="0"/>
                  </a:cubicBezTo>
                  <a:cubicBezTo>
                    <a:pt x="5299075" y="0"/>
                    <a:pt x="6827520" y="1528445"/>
                    <a:pt x="6827520" y="3413760"/>
                  </a:cubicBezTo>
                  <a:cubicBezTo>
                    <a:pt x="6827520" y="5299075"/>
                    <a:pt x="5299075" y="6827520"/>
                    <a:pt x="3413760" y="6827520"/>
                  </a:cubicBezTo>
                  <a:cubicBezTo>
                    <a:pt x="1528445" y="6827520"/>
                    <a:pt x="0" y="5299075"/>
                    <a:pt x="0" y="3413760"/>
                  </a:cubicBezTo>
                  <a:close/>
                </a:path>
              </a:pathLst>
            </a:custGeom>
            <a:solidFill>
              <a:srgbClr val="14B8A6">
                <a:alpha val="1215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38143" y="2414776"/>
            <a:ext cx="16093440" cy="914400"/>
            <a:chOff x="0" y="0"/>
            <a:chExt cx="2145792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14579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0"/>
                </a:lnSpc>
              </a:pPr>
              <a:r>
                <a:rPr lang="en-US" b="true" sz="2900" spc="621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SYSTÈME INTELLIGENT DE RÉTENTION CLIENT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9563" y="932755"/>
            <a:ext cx="16093440" cy="5718609"/>
            <a:chOff x="0" y="0"/>
            <a:chExt cx="21457920" cy="76248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7920" cy="7624812"/>
            </a:xfrm>
            <a:custGeom>
              <a:avLst/>
              <a:gdLst/>
              <a:ahLst/>
              <a:cxnLst/>
              <a:rect r="r" b="b" t="t" l="l"/>
              <a:pathLst>
                <a:path h="7624812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624812"/>
                  </a:lnTo>
                  <a:lnTo>
                    <a:pt x="0" y="76248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47" r="0" b="259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457920" cy="7624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360"/>
                </a:lnSpc>
              </a:pPr>
              <a:r>
                <a:rPr lang="en-US" sz="7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Prédiction du churn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9563" y="4364355"/>
            <a:ext cx="15544800" cy="1463040"/>
            <a:chOff x="0" y="0"/>
            <a:chExt cx="20726400" cy="1950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26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0726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« Un système multi-modèles qui prédit le risque de résiliation et aide les équipes marketing / CRM à prioriser les actions de rétention. »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95635" y="393940"/>
            <a:ext cx="15418058" cy="842218"/>
            <a:chOff x="0" y="0"/>
            <a:chExt cx="47408839" cy="25897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408840" cy="2589729"/>
            </a:xfrm>
            <a:custGeom>
              <a:avLst/>
              <a:gdLst/>
              <a:ahLst/>
              <a:cxnLst/>
              <a:rect r="r" b="b" t="t" l="l"/>
              <a:pathLst>
                <a:path h="2589729" w="47408840">
                  <a:moveTo>
                    <a:pt x="0" y="0"/>
                  </a:moveTo>
                  <a:lnTo>
                    <a:pt x="47408840" y="0"/>
                  </a:lnTo>
                  <a:lnTo>
                    <a:pt x="47408840" y="2589729"/>
                  </a:lnTo>
                  <a:lnTo>
                    <a:pt x="0" y="25897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7388" r="0" b="-20940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7408839" cy="2627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AB7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Mastère Data Engineering &amp; IA 2025-2026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AB7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Projet certifiant RNCP40875 - Bloc 2 : Piloter et implémenter des solutions d'IA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19050" y="-247151"/>
            <a:ext cx="3914685" cy="1957343"/>
          </a:xfrm>
          <a:custGeom>
            <a:avLst/>
            <a:gdLst/>
            <a:ahLst/>
            <a:cxnLst/>
            <a:rect r="r" b="b" t="t" l="l"/>
            <a:pathLst>
              <a:path h="1957343" w="3914685">
                <a:moveTo>
                  <a:pt x="0" y="0"/>
                </a:moveTo>
                <a:lnTo>
                  <a:pt x="3914685" y="0"/>
                </a:lnTo>
                <a:lnTo>
                  <a:pt x="3914685" y="1957342"/>
                </a:lnTo>
                <a:lnTo>
                  <a:pt x="0" y="19573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38143" y="6996807"/>
            <a:ext cx="896112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Réalisé par : </a:t>
            </a:r>
          </a:p>
          <a:p>
            <a:pPr algn="l">
              <a:lnSpc>
                <a:spcPts val="3719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6708366" y="9624022"/>
            <a:ext cx="2196854" cy="634403"/>
            <a:chOff x="0" y="0"/>
            <a:chExt cx="6755084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55084" cy="1950720"/>
            </a:xfrm>
            <a:custGeom>
              <a:avLst/>
              <a:gdLst/>
              <a:ahLst/>
              <a:cxnLst/>
              <a:rect r="r" b="b" t="t" l="l"/>
              <a:pathLst>
                <a:path h="1950720" w="6755084">
                  <a:moveTo>
                    <a:pt x="0" y="0"/>
                  </a:moveTo>
                  <a:lnTo>
                    <a:pt x="6755084" y="0"/>
                  </a:lnTo>
                  <a:lnTo>
                    <a:pt x="6755084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86" r="0" b="-140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755084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AB7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30/07/2026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219381" y="6996807"/>
            <a:ext cx="896112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Khanh Vy TA</a:t>
            </a:r>
          </a:p>
          <a:p>
            <a:pPr algn="l">
              <a:lnSpc>
                <a:spcPts val="3359"/>
              </a:lnSpc>
            </a:pPr>
            <a:r>
              <a:rPr lang="en-US" sz="27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ALice Colombe MADOUNGOU MOUNDOUBI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8143" y="8098574"/>
            <a:ext cx="896112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Encadré par :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19381" y="8098574"/>
            <a:ext cx="896112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Sarah MALAEB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40080"/>
            <a:ext cx="1280160" cy="1097280"/>
            <a:chOff x="0" y="0"/>
            <a:chExt cx="170688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0688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4B8A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15826" y="-641847"/>
            <a:ext cx="15361920" cy="3661135"/>
            <a:chOff x="0" y="0"/>
            <a:chExt cx="20482560" cy="48815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82561" cy="4881513"/>
            </a:xfrm>
            <a:custGeom>
              <a:avLst/>
              <a:gdLst/>
              <a:ahLst/>
              <a:cxnLst/>
              <a:rect r="r" b="b" t="t" l="l"/>
              <a:pathLst>
                <a:path h="4881513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4881513"/>
                  </a:lnTo>
                  <a:lnTo>
                    <a:pt x="0" y="4881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772" r="0" b="32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482560" cy="4881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0F2A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Contexte métier &amp; besoin utilisateur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90423" y="1816103"/>
            <a:ext cx="15387323" cy="25403"/>
            <a:chOff x="0" y="0"/>
            <a:chExt cx="2051643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16469" cy="33909"/>
            </a:xfrm>
            <a:custGeom>
              <a:avLst/>
              <a:gdLst/>
              <a:ahLst/>
              <a:cxnLst/>
              <a:rect r="r" b="b" t="t" l="l"/>
              <a:pathLst>
                <a:path h="33909" w="20516469">
                  <a:moveTo>
                    <a:pt x="0" y="0"/>
                  </a:moveTo>
                  <a:lnTo>
                    <a:pt x="2051646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739357" r="0" b="-11739245"/>
              </a:stretch>
            </a:blip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375101" y="9507855"/>
            <a:ext cx="1448357" cy="548640"/>
            <a:chOff x="0" y="0"/>
            <a:chExt cx="1931143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1143" cy="731520"/>
            </a:xfrm>
            <a:custGeom>
              <a:avLst/>
              <a:gdLst/>
              <a:ahLst/>
              <a:cxnLst/>
              <a:rect r="r" b="b" t="t" l="l"/>
              <a:pathLst>
                <a:path h="731520" w="1931143">
                  <a:moveTo>
                    <a:pt x="0" y="0"/>
                  </a:moveTo>
                  <a:lnTo>
                    <a:pt x="1931143" y="0"/>
                  </a:lnTo>
                  <a:lnTo>
                    <a:pt x="193114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-1049031" b="-5410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31143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94560" y="2265045"/>
            <a:ext cx="8961120" cy="42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E7C8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 problème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Dans un modèle par abonnement 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- chaque résiliation réduit le revenu récurrent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- retenir un client coûte moins cher qu’en acquérir un nouveau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- les équipes CRM doivent prioriser leurs actions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0E7C8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L'utilisateur cible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Responsable marketing / CRM / finance : il veut savoir qui est à risque, qui contacter en priorité, et pourquoi.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795760" y="2377440"/>
            <a:ext cx="5486400" cy="1828800"/>
            <a:chOff x="0" y="0"/>
            <a:chExt cx="7315200" cy="243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3152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7120128" y="0"/>
                  </a:lnTo>
                  <a:cubicBezTo>
                    <a:pt x="7227824" y="0"/>
                    <a:pt x="7315200" y="87376"/>
                    <a:pt x="7315200" y="195072"/>
                  </a:cubicBezTo>
                  <a:lnTo>
                    <a:pt x="7315200" y="2243328"/>
                  </a:lnTo>
                  <a:cubicBezTo>
                    <a:pt x="7315200" y="2351024"/>
                    <a:pt x="7227824" y="2438400"/>
                    <a:pt x="7120128" y="2438400"/>
                  </a:cubicBezTo>
                  <a:lnTo>
                    <a:pt x="195072" y="2438400"/>
                  </a:lnTo>
                  <a:cubicBezTo>
                    <a:pt x="87376" y="2438400"/>
                    <a:pt x="0" y="2351024"/>
                    <a:pt x="0" y="2243328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978640" y="2523744"/>
            <a:ext cx="5120640" cy="1005840"/>
            <a:chOff x="0" y="0"/>
            <a:chExt cx="682752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8275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10 000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78640" y="3511296"/>
            <a:ext cx="5120640" cy="548640"/>
            <a:chOff x="0" y="0"/>
            <a:chExt cx="68275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clients analysés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795760" y="4480560"/>
            <a:ext cx="5486400" cy="1828800"/>
            <a:chOff x="0" y="0"/>
            <a:chExt cx="7315200" cy="243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3152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7120128" y="0"/>
                  </a:lnTo>
                  <a:cubicBezTo>
                    <a:pt x="7227824" y="0"/>
                    <a:pt x="7315200" y="87376"/>
                    <a:pt x="7315200" y="195072"/>
                  </a:cubicBezTo>
                  <a:lnTo>
                    <a:pt x="7315200" y="2243328"/>
                  </a:lnTo>
                  <a:cubicBezTo>
                    <a:pt x="7315200" y="2351024"/>
                    <a:pt x="7227824" y="2438400"/>
                    <a:pt x="7120128" y="2438400"/>
                  </a:cubicBezTo>
                  <a:lnTo>
                    <a:pt x="195072" y="2438400"/>
                  </a:lnTo>
                  <a:cubicBezTo>
                    <a:pt x="87376" y="2438400"/>
                    <a:pt x="0" y="2351024"/>
                    <a:pt x="0" y="2243328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978640" y="4626864"/>
            <a:ext cx="5120640" cy="1005840"/>
            <a:chOff x="0" y="0"/>
            <a:chExt cx="6827520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8275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~10 %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978640" y="5614416"/>
            <a:ext cx="5120640" cy="548640"/>
            <a:chOff x="0" y="0"/>
            <a:chExt cx="68275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churn (déséquilibré)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795760" y="6583680"/>
            <a:ext cx="5486400" cy="1828800"/>
            <a:chOff x="0" y="0"/>
            <a:chExt cx="7315200" cy="2438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3152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7120128" y="0"/>
                  </a:lnTo>
                  <a:cubicBezTo>
                    <a:pt x="7227824" y="0"/>
                    <a:pt x="7315200" y="87376"/>
                    <a:pt x="7315200" y="195072"/>
                  </a:cubicBezTo>
                  <a:lnTo>
                    <a:pt x="7315200" y="2243328"/>
                  </a:lnTo>
                  <a:cubicBezTo>
                    <a:pt x="7315200" y="2351024"/>
                    <a:pt x="7227824" y="2438400"/>
                    <a:pt x="7120128" y="2438400"/>
                  </a:cubicBezTo>
                  <a:lnTo>
                    <a:pt x="195072" y="2438400"/>
                  </a:lnTo>
                  <a:cubicBezTo>
                    <a:pt x="87376" y="2438400"/>
                    <a:pt x="0" y="2351024"/>
                    <a:pt x="0" y="2243328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978640" y="6729984"/>
            <a:ext cx="5120640" cy="1005840"/>
            <a:chOff x="0" y="0"/>
            <a:chExt cx="682752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8275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F2A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78640" y="7717536"/>
            <a:ext cx="5120640" cy="548640"/>
            <a:chOff x="0" y="0"/>
            <a:chExt cx="68275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82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variables comportementales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6334" y="-748284"/>
            <a:ext cx="1280160" cy="3840480"/>
            <a:chOff x="0" y="0"/>
            <a:chExt cx="1706880" cy="5120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7142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06880" cy="5130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4B8A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31350" y="-658611"/>
            <a:ext cx="15361920" cy="3661135"/>
            <a:chOff x="0" y="0"/>
            <a:chExt cx="20482560" cy="48815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82561" cy="4881513"/>
            </a:xfrm>
            <a:custGeom>
              <a:avLst/>
              <a:gdLst/>
              <a:ahLst/>
              <a:cxnLst/>
              <a:rect r="r" b="b" t="t" l="l"/>
              <a:pathLst>
                <a:path h="4881513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4881513"/>
                  </a:lnTo>
                  <a:lnTo>
                    <a:pt x="0" y="4881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772" r="0" b="32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482560" cy="4881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0F2A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Problématique &amp; Tâche IA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90423" y="1816103"/>
            <a:ext cx="15387323" cy="25403"/>
            <a:chOff x="0" y="0"/>
            <a:chExt cx="2051643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16469" cy="33909"/>
            </a:xfrm>
            <a:custGeom>
              <a:avLst/>
              <a:gdLst/>
              <a:ahLst/>
              <a:cxnLst/>
              <a:rect r="r" b="b" t="t" l="l"/>
              <a:pathLst>
                <a:path h="33909" w="20516469">
                  <a:moveTo>
                    <a:pt x="0" y="0"/>
                  </a:moveTo>
                  <a:lnTo>
                    <a:pt x="2051646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739357" r="0" b="-11739245"/>
              </a:stretch>
            </a:blip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511207" y="4109796"/>
            <a:ext cx="12300056" cy="2493345"/>
          </a:xfrm>
          <a:custGeom>
            <a:avLst/>
            <a:gdLst/>
            <a:ahLst/>
            <a:cxnLst/>
            <a:rect r="r" b="b" t="t" l="l"/>
            <a:pathLst>
              <a:path h="2493345" w="12300056">
                <a:moveTo>
                  <a:pt x="0" y="0"/>
                </a:moveTo>
                <a:lnTo>
                  <a:pt x="12300056" y="0"/>
                </a:lnTo>
                <a:lnTo>
                  <a:pt x="12300056" y="2493346"/>
                </a:lnTo>
                <a:lnTo>
                  <a:pt x="0" y="2493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8" t="0" r="-708" b="-287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06414" y="1813560"/>
            <a:ext cx="8961120" cy="769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</a:p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0E7C8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Problématique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Comment anticiper les clients susceptibles de résilier afin de prioriser les actions de rétention ?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0E7C8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Tâche prédictive </a:t>
            </a:r>
          </a:p>
          <a:p>
            <a:pPr algn="l">
              <a:lnSpc>
                <a:spcPts val="3480"/>
              </a:lnSpc>
            </a:pPr>
            <a:r>
              <a:rPr lang="en-US" b="true" sz="29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libri (MS) Bold"/>
                <a:ea typeface="Calibri (MS) Bold"/>
                <a:cs typeface="Calibri (MS) Bold"/>
                <a:sym typeface="Calibri (MS) Bold"/>
              </a:rPr>
              <a:t>Classification binaire supervisée :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churn = 0 → client conservé</a:t>
            </a: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churn = 1 → client résilié</a:t>
            </a:r>
          </a:p>
          <a:p>
            <a:pPr algn="l">
              <a:lnSpc>
                <a:spcPts val="3480"/>
              </a:lnSpc>
            </a:pPr>
          </a:p>
          <a:p>
            <a:pPr algn="l">
              <a:lnSpc>
                <a:spcPts val="3479"/>
              </a:lnSpc>
            </a:pPr>
            <a:r>
              <a:rPr lang="en-US" sz="2899" b="true">
                <a:solidFill>
                  <a:srgbClr val="0E7C8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Sorties métier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Probabilité de churn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Classe risque / non-risque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Niveau de risque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Revenu à risque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Action recommandée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6375101" y="9507855"/>
            <a:ext cx="1448357" cy="548640"/>
            <a:chOff x="0" y="0"/>
            <a:chExt cx="1931143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1143" cy="731520"/>
            </a:xfrm>
            <a:custGeom>
              <a:avLst/>
              <a:gdLst/>
              <a:ahLst/>
              <a:cxnLst/>
              <a:rect r="r" b="b" t="t" l="l"/>
              <a:pathLst>
                <a:path h="731520" w="1931143">
                  <a:moveTo>
                    <a:pt x="0" y="0"/>
                  </a:moveTo>
                  <a:lnTo>
                    <a:pt x="1931143" y="0"/>
                  </a:lnTo>
                  <a:lnTo>
                    <a:pt x="193114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-1049031" b="-5410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931143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-879091"/>
            <a:ext cx="1280160" cy="3815581"/>
            <a:chOff x="0" y="0"/>
            <a:chExt cx="1706880" cy="50874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" cy="5087441"/>
            </a:xfrm>
            <a:custGeom>
              <a:avLst/>
              <a:gdLst/>
              <a:ahLst/>
              <a:cxnLst/>
              <a:rect r="r" b="b" t="t" l="l"/>
              <a:pathLst>
                <a:path h="5087441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087441"/>
                  </a:lnTo>
                  <a:lnTo>
                    <a:pt x="0" y="5087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712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06880" cy="5096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4B8A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97380" y="480060"/>
            <a:ext cx="15361920" cy="1097280"/>
            <a:chOff x="0" y="0"/>
            <a:chExt cx="204825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825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4825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0F2A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Données &amp; analyse exploratoire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90423" y="1816103"/>
            <a:ext cx="15387323" cy="25403"/>
            <a:chOff x="0" y="0"/>
            <a:chExt cx="2051643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16469" cy="33909"/>
            </a:xfrm>
            <a:custGeom>
              <a:avLst/>
              <a:gdLst/>
              <a:ahLst/>
              <a:cxnLst/>
              <a:rect r="r" b="b" t="t" l="l"/>
              <a:pathLst>
                <a:path h="33909" w="20516469">
                  <a:moveTo>
                    <a:pt x="0" y="0"/>
                  </a:moveTo>
                  <a:lnTo>
                    <a:pt x="2051646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739357" r="0" b="-11739245"/>
              </a:stretch>
            </a:blip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509760"/>
            <a:ext cx="16642080" cy="548640"/>
            <a:chOff x="0" y="0"/>
            <a:chExt cx="221894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18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63040" y="4667250"/>
            <a:ext cx="152461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>
                <a:solidFill>
                  <a:srgbClr val="0E7C8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Insight clé : le signal est non linéaire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22321" y="5191125"/>
            <a:ext cx="14996058" cy="3832580"/>
            <a:chOff x="0" y="0"/>
            <a:chExt cx="9509760" cy="2430433"/>
          </a:xfrm>
        </p:grpSpPr>
        <p:sp>
          <p:nvSpPr>
            <p:cNvPr name="Freeform 15" id="15" descr="/sessions/wizardly-serene-archimedes/mnt/Syst-me-Intelligent-Multi-Mod-les-Optimisation-du-Retour-sur-Investissement-Marketing/reports/figures/07_nonlinear_drivers.png"/>
            <p:cNvSpPr/>
            <p:nvPr/>
          </p:nvSpPr>
          <p:spPr>
            <a:xfrm flipH="false" flipV="false" rot="0">
              <a:off x="0" y="0"/>
              <a:ext cx="9509760" cy="2430433"/>
            </a:xfrm>
            <a:custGeom>
              <a:avLst/>
              <a:gdLst/>
              <a:ahLst/>
              <a:cxnLst/>
              <a:rect r="r" b="b" t="t" l="l"/>
              <a:pathLst>
                <a:path h="2430433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430433"/>
                  </a:lnTo>
                  <a:lnTo>
                    <a:pt x="0" y="2430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70" r="0" b="-217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773284" y="9157055"/>
            <a:ext cx="7132320" cy="548640"/>
            <a:chOff x="0" y="0"/>
            <a:chExt cx="950976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Taux de churn par tranche (effet de seuil)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22321" y="1916116"/>
            <a:ext cx="13362702" cy="268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5"/>
              </a:lnSpc>
            </a:pPr>
            <a:r>
              <a:rPr lang="en-US" sz="2629" b="true">
                <a:solidFill>
                  <a:srgbClr val="0E7C8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Constats EDA</a:t>
            </a:r>
          </a:p>
          <a:p>
            <a:pPr algn="l" marL="510919" indent="-255459" lvl="1">
              <a:lnSpc>
                <a:spcPts val="2839"/>
              </a:lnSpc>
              <a:buFont typeface="Arial"/>
              <a:buChar char="•"/>
            </a:pPr>
            <a:r>
              <a:rPr lang="en-US" sz="2366">
                <a:solidFill>
                  <a:srgbClr val="191919"/>
                </a:solidFill>
                <a:latin typeface="Calibri (MS)"/>
                <a:ea typeface="Calibri (MS)"/>
                <a:cs typeface="Calibri (MS)"/>
                <a:sym typeface="Calibri (MS)"/>
              </a:rPr>
              <a:t>Données globalement exploitables</a:t>
            </a:r>
          </a:p>
          <a:p>
            <a:pPr algn="l" marL="510919" indent="-255459" lvl="1">
              <a:lnSpc>
                <a:spcPts val="2839"/>
              </a:lnSpc>
              <a:buFont typeface="Arial"/>
              <a:buChar char="•"/>
            </a:pPr>
            <a:r>
              <a:rPr lang="en-US" sz="2366">
                <a:solidFill>
                  <a:srgbClr val="191919"/>
                </a:solidFill>
                <a:latin typeface="Calibri (MS)"/>
                <a:ea typeface="Calibri (MS)"/>
                <a:cs typeface="Calibri (MS)"/>
                <a:sym typeface="Calibri (MS)"/>
              </a:rPr>
              <a:t>complaint_type contient environ 20 % de valeurs manquantes</a:t>
            </a:r>
          </a:p>
          <a:p>
            <a:pPr algn="l" marL="597278" indent="-298639" lvl="1">
              <a:lnSpc>
                <a:spcPts val="3319"/>
              </a:lnSpc>
              <a:buFont typeface="Arial"/>
              <a:buChar char="•"/>
            </a:pPr>
            <a:r>
              <a:rPr lang="en-US" sz="2766">
                <a:solidFill>
                  <a:srgbClr val="191919"/>
                </a:solidFill>
                <a:latin typeface="Calibri (MS)"/>
                <a:ea typeface="Calibri (MS)"/>
                <a:cs typeface="Calibri (MS)"/>
                <a:sym typeface="Calibri (MS)"/>
              </a:rPr>
              <a:t>Ces valeurs sont interprétées comme une absence de plainte</a:t>
            </a:r>
          </a:p>
          <a:p>
            <a:pPr algn="l" marL="510919" indent="-255459" lvl="1">
              <a:lnSpc>
                <a:spcPts val="2839"/>
              </a:lnSpc>
              <a:buFont typeface="Arial"/>
              <a:buChar char="•"/>
            </a:pPr>
            <a:r>
              <a:rPr lang="en-US" sz="2366">
                <a:solidFill>
                  <a:srgbClr val="191919"/>
                </a:solidFill>
                <a:latin typeface="Calibri (MS)"/>
                <a:ea typeface="Calibri (MS)"/>
                <a:cs typeface="Calibri (MS)"/>
                <a:sym typeface="Calibri (MS)"/>
              </a:rPr>
              <a:t>Pas de doublons problématiques</a:t>
            </a:r>
          </a:p>
          <a:p>
            <a:pPr algn="l" marL="510919" indent="-255459" lvl="1">
              <a:lnSpc>
                <a:spcPts val="2839"/>
              </a:lnSpc>
              <a:buFont typeface="Arial"/>
              <a:buChar char="•"/>
            </a:pPr>
            <a:r>
              <a:rPr lang="en-US" sz="2366">
                <a:solidFill>
                  <a:srgbClr val="191919"/>
                </a:solidFill>
                <a:latin typeface="Calibri (MS)"/>
                <a:ea typeface="Calibri (MS)"/>
                <a:cs typeface="Calibri (MS)"/>
                <a:sym typeface="Calibri (MS)"/>
              </a:rPr>
              <a:t>Corrélations linéaires faibles avec la cible</a:t>
            </a:r>
          </a:p>
          <a:p>
            <a:pPr algn="l">
              <a:lnSpc>
                <a:spcPts val="3155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6375101" y="9507855"/>
            <a:ext cx="1448357" cy="548640"/>
            <a:chOff x="0" y="0"/>
            <a:chExt cx="1931143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1143" cy="731520"/>
            </a:xfrm>
            <a:custGeom>
              <a:avLst/>
              <a:gdLst/>
              <a:ahLst/>
              <a:cxnLst/>
              <a:rect r="r" b="b" t="t" l="l"/>
              <a:pathLst>
                <a:path h="731520" w="1931143">
                  <a:moveTo>
                    <a:pt x="0" y="0"/>
                  </a:moveTo>
                  <a:lnTo>
                    <a:pt x="1931143" y="0"/>
                  </a:lnTo>
                  <a:lnTo>
                    <a:pt x="193114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-1049031" b="-54104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931143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0263" y="-861946"/>
            <a:ext cx="1280160" cy="3815581"/>
            <a:chOff x="0" y="0"/>
            <a:chExt cx="1706880" cy="50874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" cy="5087441"/>
            </a:xfrm>
            <a:custGeom>
              <a:avLst/>
              <a:gdLst/>
              <a:ahLst/>
              <a:cxnLst/>
              <a:rect r="r" b="b" t="t" l="l"/>
              <a:pathLst>
                <a:path h="5087441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087441"/>
                  </a:lnTo>
                  <a:lnTo>
                    <a:pt x="0" y="5087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712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06880" cy="5096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4B8A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90423" y="1711328"/>
            <a:ext cx="15387323" cy="25403"/>
            <a:chOff x="0" y="0"/>
            <a:chExt cx="2051643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16469" cy="33909"/>
            </a:xfrm>
            <a:custGeom>
              <a:avLst/>
              <a:gdLst/>
              <a:ahLst/>
              <a:cxnLst/>
              <a:rect r="r" b="b" t="t" l="l"/>
              <a:pathLst>
                <a:path h="33909" w="20516469">
                  <a:moveTo>
                    <a:pt x="0" y="0"/>
                  </a:moveTo>
                  <a:lnTo>
                    <a:pt x="2051646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739357" r="0" b="-11739245"/>
              </a:stretch>
            </a:blip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735014" y="5074504"/>
          <a:ext cx="15245718" cy="3943350"/>
        </p:xfrm>
        <a:graphic>
          <a:graphicData uri="http://schemas.openxmlformats.org/drawingml/2006/table">
            <a:tbl>
              <a:tblPr/>
              <a:tblGrid>
                <a:gridCol w="4951504"/>
                <a:gridCol w="10294214"/>
              </a:tblGrid>
              <a:tr h="6891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Modèle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Justification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6891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Régression Logistique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9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799" strike="noStrike" u="none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Modèle de référence simple et interprétable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91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Capture efficacement les relations non linéaires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6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XGBoost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Référence sur les données tabulaires, très performant pour les problèmes de classification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91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MLP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Evaluer l'apport potentiel du Deep Learning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161872" y="1960465"/>
            <a:ext cx="15964255" cy="260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1754" indent="-385877" lvl="1">
              <a:lnSpc>
                <a:spcPts val="5120"/>
              </a:lnSpc>
              <a:buFont typeface="Arial"/>
              <a:buChar char="•"/>
            </a:pPr>
            <a:r>
              <a:rPr lang="en-US" sz="320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Python / Pandas / NumPy  → </a:t>
            </a:r>
            <a:r>
              <a:rPr lang="en-US" sz="32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manipulation et préparation des données</a:t>
            </a:r>
          </a:p>
          <a:p>
            <a:pPr algn="l" marL="771754" indent="-385877" lvl="1">
              <a:lnSpc>
                <a:spcPts val="5120"/>
              </a:lnSpc>
              <a:buFont typeface="Arial"/>
              <a:buChar char="•"/>
            </a:pPr>
            <a:r>
              <a:rPr lang="en-US" sz="320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</a:t>
            </a:r>
            <a:r>
              <a:rPr lang="en-US" sz="320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cikit-learn</a:t>
            </a:r>
            <a:r>
              <a:rPr lang="en-US" sz="32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 → pipelines anti-fuite, preprocessing et comparaison des modèles</a:t>
            </a:r>
          </a:p>
          <a:p>
            <a:pPr algn="l" marL="771754" indent="-385877" lvl="1">
              <a:lnSpc>
                <a:spcPts val="5120"/>
              </a:lnSpc>
              <a:buFont typeface="Arial"/>
              <a:buChar char="•"/>
            </a:pPr>
            <a:r>
              <a:rPr lang="en-US" sz="3200" i="true">
                <a:solidFill>
                  <a:srgbClr val="1F293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FastAPI + Streamlit</a:t>
            </a:r>
            <a:r>
              <a:rPr lang="en-US" sz="32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 → passage du modèle à une solution exploitable métier</a:t>
            </a:r>
          </a:p>
          <a:p>
            <a:pPr algn="l" marL="771754" indent="-385877" lvl="1">
              <a:lnSpc>
                <a:spcPts val="5120"/>
              </a:lnSpc>
              <a:buFont typeface="Arial"/>
              <a:buChar char="•"/>
            </a:pPr>
            <a:r>
              <a:rPr lang="en-US" sz="32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Modèles 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48260" y="655320"/>
            <a:ext cx="896112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Choix technologiques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375101" y="9507855"/>
            <a:ext cx="1448357" cy="548640"/>
            <a:chOff x="0" y="0"/>
            <a:chExt cx="1931143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1143" cy="731520"/>
            </a:xfrm>
            <a:custGeom>
              <a:avLst/>
              <a:gdLst/>
              <a:ahLst/>
              <a:cxnLst/>
              <a:rect r="r" b="b" t="t" l="l"/>
              <a:pathLst>
                <a:path h="731520" w="1931143">
                  <a:moveTo>
                    <a:pt x="0" y="0"/>
                  </a:moveTo>
                  <a:lnTo>
                    <a:pt x="1931143" y="0"/>
                  </a:lnTo>
                  <a:lnTo>
                    <a:pt x="193114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-1049031" b="-5410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31143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0423" y="1816103"/>
            <a:ext cx="15387323" cy="25403"/>
            <a:chOff x="0" y="0"/>
            <a:chExt cx="20516431" cy="33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16469" cy="33909"/>
            </a:xfrm>
            <a:custGeom>
              <a:avLst/>
              <a:gdLst/>
              <a:ahLst/>
              <a:cxnLst/>
              <a:rect r="r" b="b" t="t" l="l"/>
              <a:pathLst>
                <a:path h="33909" w="20516469">
                  <a:moveTo>
                    <a:pt x="0" y="0"/>
                  </a:moveTo>
                  <a:lnTo>
                    <a:pt x="2051646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739357" r="0" b="-11739245"/>
              </a:stretch>
            </a:blip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65467" y="1551892"/>
            <a:ext cx="16312280" cy="8867891"/>
          </a:xfrm>
          <a:custGeom>
            <a:avLst/>
            <a:gdLst/>
            <a:ahLst/>
            <a:cxnLst/>
            <a:rect r="r" b="b" t="t" l="l"/>
            <a:pathLst>
              <a:path h="8867891" w="16312280">
                <a:moveTo>
                  <a:pt x="0" y="0"/>
                </a:moveTo>
                <a:lnTo>
                  <a:pt x="16312279" y="0"/>
                </a:lnTo>
                <a:lnTo>
                  <a:pt x="16312279" y="8867891"/>
                </a:lnTo>
                <a:lnTo>
                  <a:pt x="0" y="88678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0489" y="395643"/>
            <a:ext cx="896112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1F2937"/>
                </a:solidFill>
                <a:latin typeface="Cambria Bold"/>
                <a:ea typeface="Cambria Bold"/>
                <a:cs typeface="Cambria Bold"/>
                <a:sym typeface="Cambria Bold"/>
              </a:rPr>
              <a:t>Pipeline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10263" y="-1121622"/>
            <a:ext cx="1280160" cy="3815581"/>
            <a:chOff x="0" y="0"/>
            <a:chExt cx="1706880" cy="50874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06880" cy="5087441"/>
            </a:xfrm>
            <a:custGeom>
              <a:avLst/>
              <a:gdLst/>
              <a:ahLst/>
              <a:cxnLst/>
              <a:rect r="r" b="b" t="t" l="l"/>
              <a:pathLst>
                <a:path h="5087441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087441"/>
                  </a:lnTo>
                  <a:lnTo>
                    <a:pt x="0" y="5087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712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706880" cy="5096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4B8A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375101" y="9507855"/>
            <a:ext cx="1448357" cy="548640"/>
            <a:chOff x="0" y="0"/>
            <a:chExt cx="1931143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1143" cy="731520"/>
            </a:xfrm>
            <a:custGeom>
              <a:avLst/>
              <a:gdLst/>
              <a:ahLst/>
              <a:cxnLst/>
              <a:rect r="r" b="b" t="t" l="l"/>
              <a:pathLst>
                <a:path h="731520" w="1931143">
                  <a:moveTo>
                    <a:pt x="0" y="0"/>
                  </a:moveTo>
                  <a:lnTo>
                    <a:pt x="1931143" y="0"/>
                  </a:lnTo>
                  <a:lnTo>
                    <a:pt x="193114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-1049031" b="-54104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31143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7380" y="480060"/>
            <a:ext cx="15361920" cy="1097280"/>
            <a:chOff x="0" y="0"/>
            <a:chExt cx="2048256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825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4825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0F2A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Résultats : comparaison des modèles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90423" y="1816103"/>
            <a:ext cx="15387323" cy="25403"/>
            <a:chOff x="0" y="0"/>
            <a:chExt cx="2051643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16469" cy="33909"/>
            </a:xfrm>
            <a:custGeom>
              <a:avLst/>
              <a:gdLst/>
              <a:ahLst/>
              <a:cxnLst/>
              <a:rect r="r" b="b" t="t" l="l"/>
              <a:pathLst>
                <a:path h="33909" w="20516469">
                  <a:moveTo>
                    <a:pt x="0" y="0"/>
                  </a:moveTo>
                  <a:lnTo>
                    <a:pt x="2051646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739357" r="0" b="-11739245"/>
              </a:stretch>
            </a:blip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897380" y="2423160"/>
          <a:ext cx="9829800" cy="4572000"/>
        </p:xfrm>
        <a:graphic>
          <a:graphicData uri="http://schemas.openxmlformats.org/drawingml/2006/table">
            <a:tbl>
              <a:tblPr/>
              <a:tblGrid>
                <a:gridCol w="3619403"/>
                <a:gridCol w="1552599"/>
                <a:gridCol w="1552599"/>
                <a:gridCol w="1642460"/>
                <a:gridCol w="1462738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Modèle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ROC-AUC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PR-AUC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0.377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0.377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0.287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0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Régression logistique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0.291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MLP (Deep Learning)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0.271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435840" y="2375535"/>
            <a:ext cx="4937760" cy="580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E7C8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Lecture</a:t>
            </a:r>
          </a:p>
          <a:p>
            <a:pPr algn="l" marL="603250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XGBoost et Random Forest dominent (à égalité).</a:t>
            </a:r>
          </a:p>
          <a:p>
            <a:pPr algn="l" marL="603250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La régression logistique sous-performe (effets de seuil).</a:t>
            </a:r>
          </a:p>
          <a:p>
            <a:pPr algn="l" marL="603250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Le MLP est le plus faible et le plus instable (CV ±0,14).</a:t>
            </a:r>
          </a:p>
          <a:p>
            <a:pPr algn="l" marL="579120" indent="-289560" lvl="1">
              <a:lnSpc>
                <a:spcPts val="2879"/>
              </a:lnSpc>
            </a:pPr>
            <a:r>
              <a:rPr lang="en-US" sz="2400" i="true">
                <a:solidFill>
                  <a:srgbClr val="64748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→ Le Deep Learning n'est pas toujours supérieur.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03120" y="8138160"/>
            <a:ext cx="15361920" cy="1097280"/>
            <a:chOff x="0" y="0"/>
            <a:chExt cx="2048256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825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04825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F2A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Modèle candidat retenu : XGBoost (Random Forest équivalent) — meilleur compromis performance / stabilité / interprétabilité.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0263" y="-879091"/>
            <a:ext cx="1280160" cy="3815581"/>
            <a:chOff x="0" y="0"/>
            <a:chExt cx="1706880" cy="5087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0" cy="5087441"/>
            </a:xfrm>
            <a:custGeom>
              <a:avLst/>
              <a:gdLst/>
              <a:ahLst/>
              <a:cxnLst/>
              <a:rect r="r" b="b" t="t" l="l"/>
              <a:pathLst>
                <a:path h="5087441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087441"/>
                  </a:lnTo>
                  <a:lnTo>
                    <a:pt x="0" y="5087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7124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706880" cy="5096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4B8A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03676" y="9507855"/>
            <a:ext cx="1448357" cy="548640"/>
            <a:chOff x="0" y="0"/>
            <a:chExt cx="1931143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1143" cy="731520"/>
            </a:xfrm>
            <a:custGeom>
              <a:avLst/>
              <a:gdLst/>
              <a:ahLst/>
              <a:cxnLst/>
              <a:rect r="r" b="b" t="t" l="l"/>
              <a:pathLst>
                <a:path h="731520" w="1931143">
                  <a:moveTo>
                    <a:pt x="0" y="0"/>
                  </a:moveTo>
                  <a:lnTo>
                    <a:pt x="1931143" y="0"/>
                  </a:lnTo>
                  <a:lnTo>
                    <a:pt x="193114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-1049031" b="-5410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931143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5810" y="-1098166"/>
            <a:ext cx="1280160" cy="3815581"/>
            <a:chOff x="0" y="0"/>
            <a:chExt cx="1706880" cy="50874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" cy="5087441"/>
            </a:xfrm>
            <a:custGeom>
              <a:avLst/>
              <a:gdLst/>
              <a:ahLst/>
              <a:cxnLst/>
              <a:rect r="r" b="b" t="t" l="l"/>
              <a:pathLst>
                <a:path h="5087441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087441"/>
                  </a:lnTo>
                  <a:lnTo>
                    <a:pt x="0" y="5087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712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706880" cy="5096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4B8A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59280" y="260985"/>
            <a:ext cx="15361920" cy="1097280"/>
            <a:chOff x="0" y="0"/>
            <a:chExt cx="204825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825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4825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0F2A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Interprétabilité (SHAP)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90423" y="1816103"/>
            <a:ext cx="15387323" cy="25403"/>
            <a:chOff x="0" y="0"/>
            <a:chExt cx="2051643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16469" cy="33909"/>
            </a:xfrm>
            <a:custGeom>
              <a:avLst/>
              <a:gdLst/>
              <a:ahLst/>
              <a:cxnLst/>
              <a:rect r="r" b="b" t="t" l="l"/>
              <a:pathLst>
                <a:path h="33909" w="20516469">
                  <a:moveTo>
                    <a:pt x="0" y="0"/>
                  </a:moveTo>
                  <a:lnTo>
                    <a:pt x="2051646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739357" r="0" b="-11739245"/>
              </a:stretch>
            </a:blip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66584" y="1537403"/>
            <a:ext cx="9555866" cy="8367839"/>
            <a:chOff x="0" y="0"/>
            <a:chExt cx="9022080" cy="7900416"/>
          </a:xfrm>
        </p:grpSpPr>
        <p:sp>
          <p:nvSpPr>
            <p:cNvPr name="Freeform 11" id="11" descr="/sessions/wizardly-serene-archimedes/mnt/Syst-me-Intelligent-Multi-Mod-les-Optimisation-du-Retour-sur-Investissement-Marketing/reports/figures/20_permutation_importance.png"/>
            <p:cNvSpPr/>
            <p:nvPr/>
          </p:nvSpPr>
          <p:spPr>
            <a:xfrm flipH="false" flipV="false" rot="0">
              <a:off x="0" y="0"/>
              <a:ext cx="9022080" cy="7900416"/>
            </a:xfrm>
            <a:custGeom>
              <a:avLst/>
              <a:gdLst/>
              <a:ahLst/>
              <a:cxnLst/>
              <a:rect r="r" b="b" t="t" l="l"/>
              <a:pathLst>
                <a:path h="7900416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900416"/>
                  </a:lnTo>
                  <a:lnTo>
                    <a:pt x="0" y="790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" t="0" r="-3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36264" y="2650741"/>
            <a:ext cx="6853169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E7C8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Seuil optimisé: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- meilleur compromis Recall / F1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- priorité : détecter les churners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- faux positifs acceptés dans une logique CRM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E7C8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SHAP</a:t>
            </a:r>
            <a:r>
              <a:rPr lang="en-US" sz="2600" b="true">
                <a:solidFill>
                  <a:srgbClr val="1F29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SHAP explique chaque prédiction client par client → action ciblée (relance, geste commercial, support).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375101" y="9507855"/>
            <a:ext cx="1448357" cy="548640"/>
            <a:chOff x="0" y="0"/>
            <a:chExt cx="1931143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143" cy="731520"/>
            </a:xfrm>
            <a:custGeom>
              <a:avLst/>
              <a:gdLst/>
              <a:ahLst/>
              <a:cxnLst/>
              <a:rect r="r" b="b" t="t" l="l"/>
              <a:pathLst>
                <a:path h="731520" w="1931143">
                  <a:moveTo>
                    <a:pt x="0" y="0"/>
                  </a:moveTo>
                  <a:lnTo>
                    <a:pt x="1931143" y="0"/>
                  </a:lnTo>
                  <a:lnTo>
                    <a:pt x="193114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-1049031" b="-54104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31143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4560" y="6217920"/>
            <a:ext cx="5852160" cy="5852160"/>
            <a:chOff x="0" y="0"/>
            <a:chExt cx="7802880" cy="780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02880" cy="7802880"/>
            </a:xfrm>
            <a:custGeom>
              <a:avLst/>
              <a:gdLst/>
              <a:ahLst/>
              <a:cxnLst/>
              <a:rect r="r" b="b" t="t" l="l"/>
              <a:pathLst>
                <a:path h="7802880" w="7802880">
                  <a:moveTo>
                    <a:pt x="0" y="3901440"/>
                  </a:moveTo>
                  <a:cubicBezTo>
                    <a:pt x="0" y="1746758"/>
                    <a:pt x="1746758" y="0"/>
                    <a:pt x="3901440" y="0"/>
                  </a:cubicBezTo>
                  <a:cubicBezTo>
                    <a:pt x="6056123" y="0"/>
                    <a:pt x="7802880" y="1746758"/>
                    <a:pt x="7802880" y="3901440"/>
                  </a:cubicBezTo>
                  <a:cubicBezTo>
                    <a:pt x="7802880" y="6056123"/>
                    <a:pt x="6056122" y="7802880"/>
                    <a:pt x="3901440" y="7802880"/>
                  </a:cubicBezTo>
                  <a:cubicBezTo>
                    <a:pt x="1746758" y="7802880"/>
                    <a:pt x="0" y="6056122"/>
                    <a:pt x="0" y="3901440"/>
                  </a:cubicBezTo>
                  <a:close/>
                </a:path>
              </a:pathLst>
            </a:custGeom>
            <a:solidFill>
              <a:srgbClr val="0E7C86">
                <a:alpha val="1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0160" y="2743200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1945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800">
                  <a:solidFill>
                    <a:srgbClr val="14B8A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DÉMONSTRATION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0160" y="1457193"/>
            <a:ext cx="16459200" cy="6017875"/>
            <a:chOff x="0" y="0"/>
            <a:chExt cx="21945600" cy="80238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023833"/>
            </a:xfrm>
            <a:custGeom>
              <a:avLst/>
              <a:gdLst/>
              <a:ahLst/>
              <a:cxnLst/>
              <a:rect r="r" b="b" t="t" l="l"/>
              <a:pathLst>
                <a:path h="802383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023833"/>
                  </a:lnTo>
                  <a:lnTo>
                    <a:pt x="0" y="8023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17" r="0" b="3303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45600" cy="8033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839"/>
                </a:lnSpc>
              </a:pPr>
              <a:r>
                <a:rPr lang="en-US" sz="81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</a:t>
              </a:r>
              <a:r>
                <a:rPr lang="en-US" sz="81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ashboard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375101" y="9507855"/>
            <a:ext cx="1448357" cy="548640"/>
            <a:chOff x="0" y="0"/>
            <a:chExt cx="1931143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1143" cy="731520"/>
            </a:xfrm>
            <a:custGeom>
              <a:avLst/>
              <a:gdLst/>
              <a:ahLst/>
              <a:cxnLst/>
              <a:rect r="r" b="b" t="t" l="l"/>
              <a:pathLst>
                <a:path h="731520" w="1931143">
                  <a:moveTo>
                    <a:pt x="0" y="0"/>
                  </a:moveTo>
                  <a:lnTo>
                    <a:pt x="1931143" y="0"/>
                  </a:lnTo>
                  <a:lnTo>
                    <a:pt x="193114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-1049031" b="-5410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31143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8675" y="485676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>
                  <a:solidFill>
                    <a:srgbClr val="19191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9329" y="1791239"/>
            <a:ext cx="16824271" cy="2838605"/>
            <a:chOff x="0" y="0"/>
            <a:chExt cx="22432362" cy="37848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2363" cy="3784807"/>
            </a:xfrm>
            <a:custGeom>
              <a:avLst/>
              <a:gdLst/>
              <a:ahLst/>
              <a:cxnLst/>
              <a:rect r="r" b="b" t="t" l="l"/>
              <a:pathLst>
                <a:path h="3784807" w="22432363">
                  <a:moveTo>
                    <a:pt x="0" y="0"/>
                  </a:moveTo>
                  <a:lnTo>
                    <a:pt x="22432363" y="0"/>
                  </a:lnTo>
                  <a:lnTo>
                    <a:pt x="22432363" y="3784807"/>
                  </a:lnTo>
                  <a:lnTo>
                    <a:pt x="0" y="37848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65" r="7604" b="-1033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28600"/>
              <a:ext cx="22432362" cy="4013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99770" indent="-349885" lvl="1">
                <a:lnSpc>
                  <a:spcPts val="5220"/>
                </a:lnSpc>
                <a:buFont typeface="Arial"/>
                <a:buChar char="•"/>
              </a:pPr>
              <a:r>
                <a:rPr lang="en-US" sz="2900">
                  <a:solidFill>
                    <a:srgbClr val="19191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D'un dataset brut à une solution complète : EDA, préparation, 4 modèles, interprétabilité, API &amp; dashboard.</a:t>
              </a:r>
            </a:p>
            <a:p>
              <a:pPr algn="l" marL="699770" indent="-349885" lvl="1">
                <a:lnSpc>
                  <a:spcPts val="5220"/>
                </a:lnSpc>
                <a:buFont typeface="Arial"/>
                <a:buChar char="•"/>
              </a:pPr>
              <a:r>
                <a:rPr lang="en-US" sz="2900">
                  <a:solidFill>
                    <a:srgbClr val="19191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Modèle retenu : XGBoost (Random Forest équivalent) - Recall ~0,82, capte la majorité des churners.</a:t>
              </a:r>
            </a:p>
            <a:p>
              <a:pPr algn="l" marL="699402" indent="-349701" lvl="1">
                <a:lnSpc>
                  <a:spcPts val="5220"/>
                </a:lnSpc>
                <a:buFont typeface="Arial"/>
                <a:buChar char="•"/>
              </a:pPr>
              <a:r>
                <a:rPr lang="en-US" sz="2900">
                  <a:solidFill>
                    <a:srgbClr val="19191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Facteurs actionnables : satisfaction, activité, ancienneté, paiement.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45832" y="3185138"/>
            <a:ext cx="15387323" cy="25403"/>
            <a:chOff x="0" y="0"/>
            <a:chExt cx="20516431" cy="33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516469" cy="33909"/>
            </a:xfrm>
            <a:custGeom>
              <a:avLst/>
              <a:gdLst/>
              <a:ahLst/>
              <a:cxnLst/>
              <a:rect r="r" b="b" t="t" l="l"/>
              <a:pathLst>
                <a:path h="33909" w="20516469">
                  <a:moveTo>
                    <a:pt x="0" y="0"/>
                  </a:moveTo>
                  <a:lnTo>
                    <a:pt x="20516469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1739357" r="0" b="-11739245"/>
              </a:stretch>
            </a:blip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4934122"/>
            <a:ext cx="9574978" cy="395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2900" b="true">
                <a:solidFill>
                  <a:srgbClr val="C44E5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Limites</a:t>
            </a:r>
          </a:p>
          <a:p>
            <a:pPr algn="l" marL="699402" indent="-349701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Données synthétiques au signal modéré.</a:t>
            </a:r>
          </a:p>
          <a:p>
            <a:pPr algn="l" marL="699402" indent="-349701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Pas de dimension temporelle</a:t>
            </a:r>
          </a:p>
          <a:p>
            <a:pPr algn="l" marL="699771" indent="-34988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classes déséquilibrées.</a:t>
            </a:r>
          </a:p>
          <a:p>
            <a:pPr algn="l" marL="699402" indent="-349701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Deep Learning sans gain ici</a:t>
            </a:r>
          </a:p>
          <a:p>
            <a:pPr algn="l" marL="699771" indent="-34988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29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as de monitoring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15247" y="5057775"/>
            <a:ext cx="9017908" cy="263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2900" b="true">
                <a:solidFill>
                  <a:srgbClr val="0E7C8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Améliorations</a:t>
            </a:r>
          </a:p>
          <a:p>
            <a:pPr algn="l" marL="699771" indent="-34988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 E</a:t>
            </a:r>
            <a:r>
              <a:rPr lang="en-US" sz="29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nrichissement des données (historique temporel).</a:t>
            </a:r>
          </a:p>
          <a:p>
            <a:pPr algn="l" marL="699771" indent="-34988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Calibration des probabilités, rééchantillonnage.</a:t>
            </a:r>
          </a:p>
          <a:p>
            <a:pPr algn="l" marL="699771" indent="-349885" lvl="1">
              <a:lnSpc>
                <a:spcPts val="5220"/>
              </a:lnSpc>
              <a:buFont typeface="Arial"/>
              <a:buChar char="•"/>
            </a:pPr>
            <a:r>
              <a:rPr lang="en-US" sz="29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Conteneurisation, déploiement cloud, suivi de dérive.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375101" y="9507855"/>
            <a:ext cx="1448357" cy="548640"/>
            <a:chOff x="0" y="0"/>
            <a:chExt cx="1931143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1143" cy="731520"/>
            </a:xfrm>
            <a:custGeom>
              <a:avLst/>
              <a:gdLst/>
              <a:ahLst/>
              <a:cxnLst/>
              <a:rect r="r" b="b" t="t" l="l"/>
              <a:pathLst>
                <a:path h="731520" w="1931143">
                  <a:moveTo>
                    <a:pt x="0" y="0"/>
                  </a:moveTo>
                  <a:lnTo>
                    <a:pt x="1931143" y="0"/>
                  </a:lnTo>
                  <a:lnTo>
                    <a:pt x="1931143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-1049031" b="-5410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931143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99"/>
                </a:lnSpc>
              </a:pPr>
              <a:r>
                <a:rPr lang="en-US" sz="19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4560" y="6217920"/>
            <a:ext cx="5852160" cy="5852160"/>
            <a:chOff x="0" y="0"/>
            <a:chExt cx="7802880" cy="780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02880" cy="7802880"/>
            </a:xfrm>
            <a:custGeom>
              <a:avLst/>
              <a:gdLst/>
              <a:ahLst/>
              <a:cxnLst/>
              <a:rect r="r" b="b" t="t" l="l"/>
              <a:pathLst>
                <a:path h="7802880" w="7802880">
                  <a:moveTo>
                    <a:pt x="0" y="3901440"/>
                  </a:moveTo>
                  <a:cubicBezTo>
                    <a:pt x="0" y="1746758"/>
                    <a:pt x="1746758" y="0"/>
                    <a:pt x="3901440" y="0"/>
                  </a:cubicBezTo>
                  <a:cubicBezTo>
                    <a:pt x="6056123" y="0"/>
                    <a:pt x="7802880" y="1746758"/>
                    <a:pt x="7802880" y="3901440"/>
                  </a:cubicBezTo>
                  <a:cubicBezTo>
                    <a:pt x="7802880" y="6056123"/>
                    <a:pt x="6056122" y="7802880"/>
                    <a:pt x="3901440" y="7802880"/>
                  </a:cubicBezTo>
                  <a:cubicBezTo>
                    <a:pt x="1746758" y="7802880"/>
                    <a:pt x="0" y="6056122"/>
                    <a:pt x="0" y="3901440"/>
                  </a:cubicBezTo>
                  <a:close/>
                </a:path>
              </a:pathLst>
            </a:custGeom>
            <a:solidFill>
              <a:srgbClr val="0E7C86">
                <a:alpha val="1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4259" y="1261718"/>
            <a:ext cx="16459200" cy="6017875"/>
            <a:chOff x="0" y="0"/>
            <a:chExt cx="21945600" cy="80238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8023833"/>
            </a:xfrm>
            <a:custGeom>
              <a:avLst/>
              <a:gdLst/>
              <a:ahLst/>
              <a:cxnLst/>
              <a:rect r="r" b="b" t="t" l="l"/>
              <a:pathLst>
                <a:path h="802383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023833"/>
                  </a:lnTo>
                  <a:lnTo>
                    <a:pt x="0" y="8023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17" r="0" b="3303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80333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839"/>
                </a:lnSpc>
              </a:pPr>
              <a:r>
                <a:rPr lang="en-US" sz="81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MERCI POUR VOTRE ATTENTION 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DAHNq_WxOtE</dc:identifier>
  <dcterms:modified xsi:type="dcterms:W3CDTF">2011-08-01T06:04:30Z</dcterms:modified>
  <cp:revision>1</cp:revision>
  <dc:title>Soutenance_Retention_Churn.pptx</dc:title>
</cp:coreProperties>
</file>